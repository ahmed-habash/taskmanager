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6e2e08c967b48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26339a7ee840a1"/>
  </p:sldMasterIdLst>
  <p:sldIdLst>
    <p:sldId xmlns:r="http://schemas.openxmlformats.org/officeDocument/2006/relationships" id="256" r:id="R881f5f79f583407e"/>
    <p:sldId xmlns:r="http://schemas.openxmlformats.org/officeDocument/2006/relationships" id="257" r:id="R559e5a02612b428c"/>
    <p:sldId xmlns:r="http://schemas.openxmlformats.org/officeDocument/2006/relationships" id="258" r:id="R20991980410140f7"/>
    <p:sldId xmlns:r="http://schemas.openxmlformats.org/officeDocument/2006/relationships" id="259" r:id="R48a995d1a2474c33"/>
    <p:sldId xmlns:r="http://schemas.openxmlformats.org/officeDocument/2006/relationships" id="260" r:id="Rabda9313dc9f42a2"/>
    <p:sldId xmlns:r="http://schemas.openxmlformats.org/officeDocument/2006/relationships" id="261" r:id="R64789e32efa84d77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294ef4de34914192" /><Relationship Type="http://schemas.openxmlformats.org/officeDocument/2006/relationships/viewProps" Target="/ppt/viewProps.xml" Id="R5357ca3c2c8c4698" /><Relationship Type="http://schemas.openxmlformats.org/officeDocument/2006/relationships/slideMaster" Target="/ppt/slideMasters/slideMaster1.xml" Id="R1326339a7ee840a1" /><Relationship Type="http://schemas.openxmlformats.org/officeDocument/2006/relationships/slide" Target="/ppt/slides/slide1.xml" Id="R881f5f79f583407e" /><Relationship Type="http://schemas.openxmlformats.org/officeDocument/2006/relationships/slide" Target="/ppt/slides/slide2.xml" Id="R559e5a02612b428c" /><Relationship Type="http://schemas.openxmlformats.org/officeDocument/2006/relationships/slide" Target="/ppt/slides/slide3.xml" Id="R20991980410140f7" /><Relationship Type="http://schemas.openxmlformats.org/officeDocument/2006/relationships/slide" Target="/ppt/slides/slide4.xml" Id="R48a995d1a2474c33" /><Relationship Type="http://schemas.openxmlformats.org/officeDocument/2006/relationships/slide" Target="/ppt/slides/slide5.xml" Id="Rabda9313dc9f42a2" /><Relationship Type="http://schemas.openxmlformats.org/officeDocument/2006/relationships/slide" Target="/ppt/slides/slide6.xml" Id="R64789e32efa84d77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ba442f20a9740eb" /><Relationship Type="http://schemas.openxmlformats.org/officeDocument/2006/relationships/slideLayout" Target="/ppt/slideLayouts/slideLayout1.xml" Id="R88d02e902fb6461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d02e902fb64617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Turquoise"/>
      </a:accent1>
      <a:accent2>
        <a:srgbClr val="Coral Red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2248ff36b45ea" /><Relationship Type="http://schemas.openxmlformats.org/officeDocument/2006/relationships/image" Target="/ppt/media/image.jpg" Id="R213bc164910c42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b1cce11b14157" /><Relationship Type="http://schemas.openxmlformats.org/officeDocument/2006/relationships/image" Target="/ppt/media/image2.jpg" Id="R44a99797a29849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54d1fd1ba438c" /><Relationship Type="http://schemas.openxmlformats.org/officeDocument/2006/relationships/image" Target="/ppt/media/image3.jpg" Id="R3134bc81f25841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4cc9f1e304825" /><Relationship Type="http://schemas.openxmlformats.org/officeDocument/2006/relationships/image" Target="/ppt/media/image4.jpg" Id="Ra8ea4ec471db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6b52f47a447d2" /><Relationship Type="http://schemas.openxmlformats.org/officeDocument/2006/relationships/image" Target="/ppt/media/image5.jpg" Id="R113c8b01d9b842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60fa3fffe4a4a" /><Relationship Type="http://schemas.openxmlformats.org/officeDocument/2006/relationships/image" Target="/ppt/media/image6.jpg" Id="R652dd15ba4c64a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593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Turquoise"/>
          </a:solidFill>
        </p:spPr>
      </p:sp>
      <p:sp>
        <p:nvSpPr>
          <p:cNvPr id="9320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The Vibrant World of Coral Reef Animals</a:t>
            </a:r>
          </a:p>
        </p:txBody>
      </p:sp>
      <p:sp>
        <p:nvSpPr>
          <p:cNvPr id="18398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oral Red"/>
          </a:solidFill>
        </p:spPr>
      </p:sp>
      <p:sp>
        <p:nvSpPr>
          <p:cNvPr id="34429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Coral reefs occupy less than 0.1% of the ocean floor but host over 25% of all marine life.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This incredible concentration of species is often referred to as the 'rainforests of the sea'.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Reefs are found primarily in warm, shallow, clear tropical waters where sunlight can penetrate.</a:t>
            </a:r>
          </a:p>
        </p:txBody>
      </p:sp>
      <p:pic>
        <p:nvPicPr>
          <p:cNvPr id="567129" name="TopicImage"/>
          <p:cNvPicPr/>
          <p:nvPr/>
        </p:nvPicPr>
        <p:blipFill>
          <a:blip xmlns:r="http://schemas.openxmlformats.org/officeDocument/2006/relationships" xmlns:a="http://schemas.openxmlformats.org/drawingml/2006/main" r:embed="R213bc164910c421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27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Turquoise"/>
          </a:solidFill>
        </p:spPr>
      </p:sp>
      <p:sp>
        <p:nvSpPr>
          <p:cNvPr id="80319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Reef Fish Diversity: Masters of Camouflage</a:t>
            </a:r>
          </a:p>
        </p:txBody>
      </p:sp>
      <p:sp>
        <p:nvSpPr>
          <p:cNvPr id="97418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oral Red"/>
          </a:solidFill>
        </p:spPr>
      </p:sp>
      <p:sp>
        <p:nvSpPr>
          <p:cNvPr id="76884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Fish constitute the largest group of vertebrates found on coral reefs, exhibiting extreme specialization.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Parrotfish are vital herbivores, using fused beak-like teeth to scrape algae off corals, producing sand as a byproduct.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Clownfish demonstrate mutualistic symbiosis by living unharmed within the stinging tentacles of sea anemones, providing the anemone with cleaning and ventilation.</a:t>
            </a:r>
          </a:p>
        </p:txBody>
      </p:sp>
      <p:pic>
        <p:nvPicPr>
          <p:cNvPr id="487263" name="TopicImage"/>
          <p:cNvPicPr/>
          <p:nvPr/>
        </p:nvPicPr>
        <p:blipFill>
          <a:blip xmlns:r="http://schemas.openxmlformats.org/officeDocument/2006/relationships" xmlns:a="http://schemas.openxmlformats.org/drawingml/2006/main" r:embed="R44a99797a29849f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662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Turquoise"/>
          </a:solidFill>
        </p:spPr>
      </p:sp>
      <p:sp>
        <p:nvSpPr>
          <p:cNvPr id="7904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Cnidarians: The Architects of the Reef</a:t>
            </a:r>
          </a:p>
        </p:txBody>
      </p:sp>
      <p:sp>
        <p:nvSpPr>
          <p:cNvPr id="74870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oral Red"/>
          </a:solidFill>
        </p:spPr>
      </p:sp>
      <p:sp>
        <p:nvSpPr>
          <p:cNvPr id="504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Corals themselves are animals—tiny polyps related to jellyfish and anemones, classified in the phylum Cnidaria.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Hard, or stony, corals secrete calcium carbonate skeletons, which accumulate over time to build the massive reef structure.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Coral polyps rely heavily on symbiotic algae called zooxanthellae for energy (photosynthesis), which also gives them their vibrant color.</a:t>
            </a:r>
          </a:p>
        </p:txBody>
      </p:sp>
      <p:pic>
        <p:nvPicPr>
          <p:cNvPr id="389306" name="TopicImage"/>
          <p:cNvPicPr/>
          <p:nvPr/>
        </p:nvPicPr>
        <p:blipFill>
          <a:blip xmlns:r="http://schemas.openxmlformats.org/officeDocument/2006/relationships" xmlns:a="http://schemas.openxmlformats.org/drawingml/2006/main" r:embed="R3134bc81f25841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527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Turquoise"/>
          </a:solidFill>
        </p:spPr>
      </p:sp>
      <p:sp>
        <p:nvSpPr>
          <p:cNvPr id="19533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Mollusks and Echinoderms</a:t>
            </a:r>
          </a:p>
        </p:txBody>
      </p:sp>
      <p:sp>
        <p:nvSpPr>
          <p:cNvPr id="18114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oral Red"/>
          </a:solidFill>
        </p:spPr>
      </p:sp>
      <p:sp>
        <p:nvSpPr>
          <p:cNvPr id="1331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Mollusks, such as Giant Clams (Tridacna gigas), are the largest bivalves and act as crucial filter feeders within the ecosystem.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Nudibranchs (sea slugs) are shell-less gastropods known for their bright, warning coloration (aposematism) and complex defense mechanisms.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Echinoderms, including sea stars and sea cucumbers, play important roles; for example, some sea stars, like the Crown-of-Thorns, are natural coral predators when populations boom.</a:t>
            </a:r>
          </a:p>
        </p:txBody>
      </p:sp>
      <p:pic>
        <p:nvPicPr>
          <p:cNvPr id="45597" name="TopicImage"/>
          <p:cNvPicPr/>
          <p:nvPr/>
        </p:nvPicPr>
        <p:blipFill>
          <a:blip xmlns:r="http://schemas.openxmlformats.org/officeDocument/2006/relationships" xmlns:a="http://schemas.openxmlformats.org/drawingml/2006/main" r:embed="Ra8ea4ec471db42b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61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Turquoise"/>
          </a:solidFill>
        </p:spPr>
      </p:sp>
      <p:sp>
        <p:nvSpPr>
          <p:cNvPr id="44197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Crustaceans: The Clean-up Crew and Symbiotes</a:t>
            </a:r>
          </a:p>
        </p:txBody>
      </p:sp>
      <p:sp>
        <p:nvSpPr>
          <p:cNvPr id="36920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oral Red"/>
          </a:solidFill>
        </p:spPr>
      </p:sp>
      <p:sp>
        <p:nvSpPr>
          <p:cNvPr id="5038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Cleaner shrimp and certain crabs engage in cleaning symbiosis, removing parasites and dead tissue from fish and larger invertebrates.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Mantis shrimp possess one of the fastest and most powerful strikes in the animal kingdom, used to smash mollusk shells or spear prey.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Burrowing crustaceans, like pistol shrimp, create shelter by digging into the sand and rubble, often sharing burrows with gobies for protection.</a:t>
            </a:r>
          </a:p>
        </p:txBody>
      </p:sp>
      <p:pic>
        <p:nvPicPr>
          <p:cNvPr id="382713" name="TopicImage"/>
          <p:cNvPicPr/>
          <p:nvPr/>
        </p:nvPicPr>
        <p:blipFill>
          <a:blip xmlns:r="http://schemas.openxmlformats.org/officeDocument/2006/relationships" xmlns:a="http://schemas.openxmlformats.org/drawingml/2006/main" r:embed="R113c8b01d9b8423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227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Turquoise"/>
          </a:solidFill>
        </p:spPr>
      </p:sp>
      <p:sp>
        <p:nvSpPr>
          <p:cNvPr id="21537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Threats and the Need for Conservation</a:t>
            </a:r>
          </a:p>
        </p:txBody>
      </p:sp>
      <p:sp>
        <p:nvSpPr>
          <p:cNvPr id="83674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oral Red"/>
          </a:solidFill>
        </p:spPr>
      </p:sp>
      <p:sp>
        <p:nvSpPr>
          <p:cNvPr id="78589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Coral reef animals face existential threats from ocean acidification, which makes it harder for organisms to build their calcium carbonate skeletons.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Rising sea temperatures cause coral bleaching, expelling the vital zooxanthellae and leading to mass die-offs.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efforts, including establishing Marine Protected Areas (MPAs) and reducing global carbon emissions, are critical to preserving this biodiversity hotspot.</a:t>
            </a:r>
          </a:p>
        </p:txBody>
      </p:sp>
      <p:pic>
        <p:nvPicPr>
          <p:cNvPr id="918125" name="TopicImage"/>
          <p:cNvPicPr/>
          <p:nvPr/>
        </p:nvPicPr>
        <p:blipFill>
          <a:blip xmlns:r="http://schemas.openxmlformats.org/officeDocument/2006/relationships" xmlns:a="http://schemas.openxmlformats.org/drawingml/2006/main" r:embed="R652dd15ba4c64ae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